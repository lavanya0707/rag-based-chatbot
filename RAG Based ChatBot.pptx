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4" r:id="rId6"/>
    <p:sldId id="320" r:id="rId7"/>
    <p:sldId id="322" r:id="rId8"/>
    <p:sldId id="311" r:id="rId9"/>
    <p:sldId id="312" r:id="rId10"/>
    <p:sldId id="325" r:id="rId11"/>
    <p:sldId id="323" r:id="rId12"/>
    <p:sldId id="324" r:id="rId13"/>
    <p:sldId id="315" r:id="rId14"/>
    <p:sldId id="316" r:id="rId15"/>
    <p:sldId id="317" r:id="rId16"/>
    <p:sldId id="318" r:id="rId17"/>
    <p:sldId id="319" r:id="rId18"/>
    <p:sldId id="321" r:id="rId19"/>
    <p:sldId id="32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913" y="339213"/>
            <a:ext cx="6253317" cy="2546555"/>
          </a:xfrm>
        </p:spPr>
        <p:txBody>
          <a:bodyPr>
            <a:normAutofit/>
          </a:bodyPr>
          <a:lstStyle/>
          <a:p>
            <a:r>
              <a:rPr lang="en-US" dirty="0"/>
              <a:t>RAG Based </a:t>
            </a:r>
            <a:r>
              <a:rPr lang="en-US" dirty="0" err="1"/>
              <a:t>ChatBot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83" y="2978245"/>
            <a:ext cx="6269347" cy="3041360"/>
          </a:xfrm>
        </p:spPr>
        <p:txBody>
          <a:bodyPr>
            <a:noAutofit/>
          </a:bodyPr>
          <a:lstStyle/>
          <a:p>
            <a:r>
              <a:rPr lang="en-IN" sz="1800" b="1" cap="none" spc="0" dirty="0">
                <a:latin typeface="Arial" panose="020B0604020202020204" pitchFamily="34" charset="0"/>
                <a:cs typeface="Arial" panose="020B0604020202020204" pitchFamily="34" charset="0"/>
              </a:rPr>
              <a:t>Project by : </a:t>
            </a:r>
          </a:p>
          <a:p>
            <a:r>
              <a:rPr lang="en-IN" sz="1800" cap="none" spc="0" dirty="0">
                <a:latin typeface="Arial" panose="020B0604020202020204" pitchFamily="34" charset="0"/>
                <a:cs typeface="Arial" panose="020B0604020202020204" pitchFamily="34" charset="0"/>
              </a:rPr>
              <a:t>Group no.5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guided by:</a:t>
            </a:r>
          </a:p>
          <a:p>
            <a:r>
              <a:rPr lang="en-IN" sz="1800" cap="none" spc="0" dirty="0" err="1">
                <a:latin typeface="Arial" panose="020B0604020202020204" pitchFamily="34" charset="0"/>
                <a:cs typeface="Arial" panose="020B0604020202020204" pitchFamily="34" charset="0"/>
              </a:rPr>
              <a:t>Prof.Veena</a:t>
            </a:r>
            <a:r>
              <a:rPr lang="en-IN" sz="1800" cap="none" spc="0" dirty="0">
                <a:latin typeface="Arial" panose="020B0604020202020204" pitchFamily="34" charset="0"/>
                <a:cs typeface="Arial" panose="020B0604020202020204" pitchFamily="34" charset="0"/>
              </a:rPr>
              <a:t> Sarda</a:t>
            </a:r>
            <a:endParaRPr lang="en-US" sz="1800" cap="none" spc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4412-2017-DB9E-5C44-A424E22E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7D4A8D-94EE-2C23-1236-1CD75430C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33117"/>
            <a:ext cx="10058400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design a chatbot that accurately answers user queries by retrieving relevant information from documents and generating responses strictly based on that retrieved context, while avoiding hallucinations.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51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3476-307E-2156-1D62-F2E1EEC6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RAG?</a:t>
            </a:r>
            <a:endParaRPr lang="en-IN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308FA45-7E49-E4EB-2303-63B27E8728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474109"/>
            <a:ext cx="10058400" cy="484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Retrieval Augmented Generation (RAG)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an advanced NLP technique that combines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retrieval    with text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retrieves relevant information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sources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(documents, PDFs, databases) before generating answers.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traditional language models, RAG does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rely only on pre-trained knowledge.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Two main stages in RAG: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 Stage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Fetches relevant document chunks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semantic similarity search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Generation Stage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An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responses using the retrieved context.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Grounding answers in retrieved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reduces hallucinations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responses are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accurate, contextual, and document-based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Commonly used in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Q&amp;A systems, chatbots, knowledge assistants, and educational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2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7290F-9112-75E6-DD9F-68D7CED2F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527" y="888421"/>
            <a:ext cx="8980946" cy="508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9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B56F-CAA5-FCDE-8758-DA2A52A2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Of RAG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FD6E-3CD0-D7D9-8050-6BC5AFE3F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1. LLMs Do Not Know Your Private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2. Reduces Hallucinations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No Need to Retrain the Model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Handles Frequently Changing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5. Improves Answer Accuracy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6. Domain-Specific Question Answering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7. Explainable Responses</a:t>
            </a:r>
          </a:p>
        </p:txBody>
      </p:sp>
    </p:spTree>
    <p:extLst>
      <p:ext uri="{BB962C8B-B14F-4D97-AF65-F5344CB8AC3E}">
        <p14:creationId xmlns:p14="http://schemas.microsoft.com/office/powerpoint/2010/main" val="320132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4D1A-4721-3679-6CF7-8C41BDE6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1962A0-CF49-19EC-F5CB-DAE8700EF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2594" y="2108200"/>
            <a:ext cx="7728154" cy="4066458"/>
          </a:xfrm>
        </p:spPr>
      </p:pic>
    </p:spTree>
    <p:extLst>
      <p:ext uri="{BB962C8B-B14F-4D97-AF65-F5344CB8AC3E}">
        <p14:creationId xmlns:p14="http://schemas.microsoft.com/office/powerpoint/2010/main" val="226440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259F-11DB-906C-FDE1-421B20E6B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2D456-2505-389D-C7AF-149C87F2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Tokenization converts raw text into tokens such as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words,subwords,or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characters.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 have used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RecursiveCharacterTextSplitter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RecursiveCharacterTextSplitter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utility used to split large text into smaller     chunks in 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smart and hierarchical way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so that LLMs can process the text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Maintains paragraph &amp; sentence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Produces context-aware chunks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Improves retrieval accuracy in vector DBs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Keeps overlap so meaning is not lost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66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910C-F634-F996-71E3-E9EDF75E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BERT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02308E-8E16-0D99-824E-42B428F15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9680" y="1764811"/>
            <a:ext cx="7843520" cy="5413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SBERT creates sentence-level embeddings that can be directly compared using cosine similarity.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Sentence-BERT is a modified version of BERT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It converts sentences or paragraphs into fixed-length vector  embeddings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These embeddings capture semantic meaning of the sentence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BERT gives word-level embeddings, not sentence-level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Comparing sentences using BERT is slow and inefficient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SBERT enables fast and accurate sentence similarity</a:t>
            </a:r>
          </a:p>
          <a:p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1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728-86F6-C09B-E79E-8E6B7A8B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44D98-FB8D-2533-7DB7-8A1CB010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database optimized to store and search high-dimensional vectors efficiently.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Vectors represent the semantic meaning of data (text, images, audio)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Enables similarity search using mathematical distance measures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Why Vector Databases are Needed?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Traditional databases are poor at semantic search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Vector DBs find meaningfully similar data, not just exact matches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Essential for AI, NLP, and LLM-based applications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Examples : FAISS, Chroma, Pinecone</a:t>
            </a:r>
          </a:p>
        </p:txBody>
      </p:sp>
    </p:spTree>
    <p:extLst>
      <p:ext uri="{BB962C8B-B14F-4D97-AF65-F5344CB8AC3E}">
        <p14:creationId xmlns:p14="http://schemas.microsoft.com/office/powerpoint/2010/main" val="91079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214D-5098-F0A3-15BC-3DE52676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356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Frameworks / Libraries Used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FDDD-928D-0B32-629B-B4D70C1D9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67561"/>
            <a:ext cx="10058400" cy="4190999"/>
          </a:xfrm>
        </p:spPr>
        <p:txBody>
          <a:bodyPr/>
          <a:lstStyle/>
          <a:p>
            <a:r>
              <a:rPr lang="en-US" b="1" dirty="0"/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Python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Primary programming language used for backend development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Provides flexibility and rich AI/ML ecosystem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Framework used to build the Retrieval Augmented Generation (RAG)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Handles document loading, text splitting, prompt management, and LLM interaction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494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C44A1C-1A0E-A9F1-8579-9B5DE4103C15}"/>
              </a:ext>
            </a:extLst>
          </p:cNvPr>
          <p:cNvSpPr txBox="1"/>
          <p:nvPr/>
        </p:nvSpPr>
        <p:spPr>
          <a:xfrm>
            <a:off x="914400" y="629920"/>
            <a:ext cx="102311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3. FAISS (Facebook AI Similarity Search)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Vector database used for fast similarity search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Stores document embeddings and retrieves relevant chunks 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4. Sentence Transformers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generate dense vector embeddings for documents and user queries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Captures semantic meaning of text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/>
              <a:t>5. </a:t>
            </a:r>
            <a:r>
              <a:rPr lang="en-US" sz="2000" b="1" dirty="0" err="1"/>
              <a:t>Ollama</a:t>
            </a:r>
            <a:endParaRPr lang="en-US" sz="2000" b="1" dirty="0"/>
          </a:p>
          <a:p>
            <a:endParaRPr lang="en-US" sz="20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Used to run Large Language Models locally (e.g., Mistral)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Enables offline inference and data privacy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51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BEA4B-711F-C1B7-7F3B-EEAF5E59CD38}"/>
              </a:ext>
            </a:extLst>
          </p:cNvPr>
          <p:cNvSpPr txBox="1"/>
          <p:nvPr/>
        </p:nvSpPr>
        <p:spPr>
          <a:xfrm>
            <a:off x="1148080" y="168989"/>
            <a:ext cx="9895840" cy="6689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 framework used to create an interactive user interface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Allows users to input questions and view answers easily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PyPDF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 PDF Loader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to read and extract text from PDF documents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Converts PDF content into processable text format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8. NumPy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Used for numerical operations and vector handling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Supports efficient embedding storage and manipulation</a:t>
            </a:r>
          </a:p>
          <a:p>
            <a:pPr>
              <a:lnSpc>
                <a:spcPct val="150000"/>
              </a:lnSpc>
            </a:pPr>
            <a:br>
              <a:rPr lang="en-IN" dirty="0"/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9. OS &amp; Pickle (Python Utilities)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Used for file handling and directory management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pickle: Used for caching embeddings and improving performance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57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2A36-BCF9-8D22-59E1-464C47BA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D3D9-EE12-6349-A53A-5B742CCEE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1. Reduces Hallucination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2. Document-Based Accuracy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3. Source Transparency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No Need to Retrain LLM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5. Scalable and Efficient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6. Domain Adaptability</a:t>
            </a:r>
          </a:p>
        </p:txBody>
      </p:sp>
    </p:spTree>
    <p:extLst>
      <p:ext uri="{BB962C8B-B14F-4D97-AF65-F5344CB8AC3E}">
        <p14:creationId xmlns:p14="http://schemas.microsoft.com/office/powerpoint/2010/main" val="339230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3387-3403-1F1F-7D31-B63A29F9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5020-A36E-6EE3-C7CB-098473FF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1. Depends on Retrieval Quality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2. Context Window Limitation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Embedding Cost and Storage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4. Latency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5. Not Fully Reasoning-Based</a:t>
            </a:r>
          </a:p>
        </p:txBody>
      </p:sp>
    </p:spTree>
    <p:extLst>
      <p:ext uri="{BB962C8B-B14F-4D97-AF65-F5344CB8AC3E}">
        <p14:creationId xmlns:p14="http://schemas.microsoft.com/office/powerpoint/2010/main" val="294209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05A3-0EA7-A033-E55E-F971A791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E74C5-2EBA-BDEF-7152-D32449ECD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1. Multi-Document &amp; Multi-Modal Retrieval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2. Improved Retrieval Accuracy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3. Long-Context LLM Integration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4. Real-Time Knowledge Updates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Personalized and Adaptive RAG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6. Enterprise-Level Deployment</a:t>
            </a:r>
          </a:p>
        </p:txBody>
      </p:sp>
    </p:spTree>
    <p:extLst>
      <p:ext uri="{BB962C8B-B14F-4D97-AF65-F5344CB8AC3E}">
        <p14:creationId xmlns:p14="http://schemas.microsoft.com/office/powerpoint/2010/main" val="3817265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0D62-5E0B-52EB-4982-C5DB8D2E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E465-7F21-C912-4EC0-F2F9E4FFD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 The RAG-based chatbot successfully retrieves relevant document chunks and generates responses strictly grounded in retrieved context.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 Integration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RecursiveCharacterTextSplitter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SBERT embeddings ensures high-quality, semantically meaningful retrieval.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 Use of FAISS vector database enables fast and scalable similarity search for large document collections.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 The system reduces hallucinations, improves answer accuracy, and avoids the need for frequent model retraining.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 Overall, the project demonstrates an efficient, explainable, and domain-adaptable solution for document-based intelligent question answering.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82773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{97EB48D1-653E-43AD-9974-E15AFA824649}tf33845126_win32</Template>
  <TotalTime>472</TotalTime>
  <Words>835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Calibri</vt:lpstr>
      <vt:lpstr>Franklin Gothic Book</vt:lpstr>
      <vt:lpstr>1_RetrospectVTI</vt:lpstr>
      <vt:lpstr>RAG Based ChatBot</vt:lpstr>
      <vt:lpstr>Problem Statement</vt:lpstr>
      <vt:lpstr>What is RAG?</vt:lpstr>
      <vt:lpstr>PowerPoint Presentation</vt:lpstr>
      <vt:lpstr>Need Of RAG Model</vt:lpstr>
      <vt:lpstr>RAG Architecture</vt:lpstr>
      <vt:lpstr>Tokenization</vt:lpstr>
      <vt:lpstr>Sentence BERT</vt:lpstr>
      <vt:lpstr>Vector DB</vt:lpstr>
      <vt:lpstr>Frameworks / Libraries Used</vt:lpstr>
      <vt:lpstr>PowerPoint Presentation</vt:lpstr>
      <vt:lpstr>PowerPoint Presentation</vt:lpstr>
      <vt:lpstr>RAG Use Cases</vt:lpstr>
      <vt:lpstr>Limitations of RAG</vt:lpstr>
      <vt:lpstr>Future Scope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Prajakta Gatane</dc:creator>
  <cp:lastModifiedBy>Prajakta Gatane</cp:lastModifiedBy>
  <cp:revision>10</cp:revision>
  <dcterms:created xsi:type="dcterms:W3CDTF">2025-12-19T10:33:22Z</dcterms:created>
  <dcterms:modified xsi:type="dcterms:W3CDTF">2025-12-21T17:50:48Z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